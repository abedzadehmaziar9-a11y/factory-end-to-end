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9" r:id="rId6"/>
    <p:sldId id="262" r:id="rId7"/>
    <p:sldId id="261" r:id="rId8"/>
    <p:sldId id="264" r:id="rId9"/>
    <p:sldId id="277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6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KbHdHCGEz9hxF59Rsok4S4iYl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108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868680"/>
            <a:ext cx="548640" cy="54864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COMPUTATIONAL TRANSCRIPTOMICS  ·  BIOINFORMATICS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Molecular Landscape of Glioblastoma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 Gene Expression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5146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Differential Expression &amp; Network Analysis of the Ivy Glioblastoma Atlas Project (Ivy GAP)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57200" y="3246120"/>
            <a:ext cx="2743200" cy="0"/>
          </a:xfrm>
          <a:prstGeom prst="straightConnector1">
            <a:avLst/>
          </a:prstGeom>
          <a:noFill/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1"/>
          <p:cNvSpPr/>
          <p:nvPr/>
        </p:nvSpPr>
        <p:spPr>
          <a:xfrm>
            <a:off x="457200" y="333756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58444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 Ibnouf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Maziar Abedzadeh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0" y="41605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Bioinformatics Internship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BITC2486 · Spring 2026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Professor Nihal Salem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457200" y="491947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Presentation Roadmap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14-minute walkthrough — from disease biology to molecular engines.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0060" y="1508760"/>
            <a:ext cx="2606040" cy="260604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80060" y="1508760"/>
            <a:ext cx="2606040" cy="7315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08660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034540" y="1783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08660" y="23774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08660" y="278892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Glioblastoma biology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Ivy GAP dataset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Workflow &amp; methodology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08660" y="374904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NADA + MAZIAR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68980" y="1508760"/>
            <a:ext cx="2606040" cy="260604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268980" y="1508760"/>
            <a:ext cx="2606040" cy="73152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497580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23460" y="1783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7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497580" y="23774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497580" y="278892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PCA — Quality Control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DESeq2 — Differential Expression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WGCNA — Co-expression Networks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497580" y="374904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NADA + MAZIAR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057900" y="1508760"/>
            <a:ext cx="2606040" cy="260604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057900" y="1508760"/>
            <a:ext cx="2606040" cy="7315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286500" y="16916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612380" y="1783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86500" y="237744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286500" y="2788920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Biological significance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Char char="▪"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286500" y="3749040"/>
            <a:ext cx="2148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MAZIAR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2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" name="Google Shape;59;p2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457200" y="2240280"/>
            <a:ext cx="548640" cy="54864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7200" y="2377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What is GBM, and why the Ivy GAP atlas matters.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457200" y="491947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3"/>
          <p:cNvSpPr/>
          <p:nvPr/>
        </p:nvSpPr>
        <p:spPr>
          <a:xfrm>
            <a:off x="457200" y="495604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0B5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37157" y="155447"/>
            <a:ext cx="8549643" cy="112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endParaRPr lang="en-US" sz="2800" b="1" i="0" u="none" strike="noStrike" cap="none" dirty="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endParaRPr lang="en-US" sz="2800" b="1" i="0" u="none" strike="noStrike" cap="none" dirty="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What is Glioblastoma?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</a:t>
            </a:r>
            <a:r>
              <a:rPr lang="en-US" sz="1600" i="0" u="none" strike="noStrike" cap="none" dirty="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Brain Cell Types</a:t>
            </a:r>
            <a:endParaRPr lang="en-US" sz="16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37157" y="1078992"/>
            <a:ext cx="8549643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b="0" i="1" u="none" strike="noStrike" cap="none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Grade 4 primary brain tumor — aggressive, infiltrative, and structurally heterogeneous.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16108" y="1810511"/>
            <a:ext cx="3749042" cy="280720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Glioblastoma (GBM) is the most aggressive Grade 4 primary brain cancer.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Median Overall Survival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Typically, 12 to 18 months with standard medical intervention. Without treatment, survival drops sharply to approximately 3-4 months.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 originates in astrocytes — glial cells responsible for supporting the brain and providing nutrition.</a:t>
            </a:r>
          </a:p>
        </p:txBody>
      </p:sp>
      <p:sp>
        <p:nvSpPr>
          <p:cNvPr id="85" name="Google Shape;85;p4"/>
          <p:cNvSpPr/>
          <p:nvPr/>
        </p:nvSpPr>
        <p:spPr>
          <a:xfrm>
            <a:off x="405837" y="1831085"/>
            <a:ext cx="45719" cy="2807203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97275" y="181051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600" b="1" i="0" u="sng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sz="16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85800" y="187452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endParaRPr lang="en-US"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85800" y="265176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85800" y="292608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 flipV="1">
            <a:off x="457200" y="4846320"/>
            <a:ext cx="4572000" cy="182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18970" y="393649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85800" y="420624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49240" y="4617720"/>
            <a:ext cx="3337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Hypoxic core vs invasive edge — distinct cellular ecosystems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4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4D0D2-8406-2BD1-7E35-D173951C4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037" y="1993392"/>
            <a:ext cx="4627768" cy="2806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96CE5A-CE48-9618-3F34-492B419DDFCF}"/>
              </a:ext>
            </a:extLst>
          </p:cNvPr>
          <p:cNvSpPr txBox="1"/>
          <p:nvPr/>
        </p:nvSpPr>
        <p:spPr>
          <a:xfrm>
            <a:off x="5364057" y="173276"/>
            <a:ext cx="47366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TUMOR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26F45-CF6E-9878-AB4B-5BD0EF1D1CC8}"/>
              </a:ext>
            </a:extLst>
          </p:cNvPr>
          <p:cNvSpPr txBox="1"/>
          <p:nvPr/>
        </p:nvSpPr>
        <p:spPr>
          <a:xfrm>
            <a:off x="6320791" y="422705"/>
            <a:ext cx="2823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1" name="Google Shape;88;p4">
            <a:extLst>
              <a:ext uri="{FF2B5EF4-FFF2-40B4-BE49-F238E27FC236}">
                <a16:creationId xmlns:a16="http://schemas.microsoft.com/office/drawing/2014/main" id="{D245E44D-A30D-A376-2A48-390E6F9FF2EF}"/>
              </a:ext>
            </a:extLst>
          </p:cNvPr>
          <p:cNvSpPr/>
          <p:nvPr/>
        </p:nvSpPr>
        <p:spPr>
          <a:xfrm>
            <a:off x="5482833" y="481052"/>
            <a:ext cx="3449194" cy="171156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GBM is structurally heterogeneous: a hypoxic Cellular Tumor (CT) core forms </a:t>
            </a:r>
            <a:r>
              <a:rPr lang="en-US" sz="1600" dirty="0" err="1"/>
              <a:t>pseudopalisading</a:t>
            </a:r>
            <a:r>
              <a:rPr lang="en-US" sz="1600" dirty="0"/>
              <a:t> necrosis (cells crowding around dying tissue), surrounded by an Infiltrating Tumor (IT) leading edge that invades healthy brain.</a:t>
            </a:r>
          </a:p>
        </p:txBody>
      </p:sp>
      <p:sp>
        <p:nvSpPr>
          <p:cNvPr id="13" name="Google Shape;93;p4">
            <a:extLst>
              <a:ext uri="{FF2B5EF4-FFF2-40B4-BE49-F238E27FC236}">
                <a16:creationId xmlns:a16="http://schemas.microsoft.com/office/drawing/2014/main" id="{E5825006-19F9-D4F4-A284-C444C795078C}"/>
              </a:ext>
            </a:extLst>
          </p:cNvPr>
          <p:cNvSpPr/>
          <p:nvPr/>
        </p:nvSpPr>
        <p:spPr>
          <a:xfrm>
            <a:off x="5423455" y="489640"/>
            <a:ext cx="45719" cy="1702978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92;p4">
            <a:extLst>
              <a:ext uri="{FF2B5EF4-FFF2-40B4-BE49-F238E27FC236}">
                <a16:creationId xmlns:a16="http://schemas.microsoft.com/office/drawing/2014/main" id="{B2AE4C14-2ECB-7A4F-7F0C-5E579D5CDD69}"/>
              </a:ext>
            </a:extLst>
          </p:cNvPr>
          <p:cNvSpPr/>
          <p:nvPr/>
        </p:nvSpPr>
        <p:spPr>
          <a:xfrm>
            <a:off x="5423454" y="2807379"/>
            <a:ext cx="3508573" cy="14037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Surgery removes the CT core, but IT cells survive and drive recurrence. Mapping IT vs CT gene expression is the most direct route to drug targets that stop the spread</a:t>
            </a:r>
            <a:r>
              <a:rPr lang="en-US" dirty="0"/>
              <a:t>.</a:t>
            </a:r>
          </a:p>
        </p:txBody>
      </p:sp>
      <p:sp>
        <p:nvSpPr>
          <p:cNvPr id="15" name="Google Shape;89;p4">
            <a:extLst>
              <a:ext uri="{FF2B5EF4-FFF2-40B4-BE49-F238E27FC236}">
                <a16:creationId xmlns:a16="http://schemas.microsoft.com/office/drawing/2014/main" id="{46F8C753-383A-AFED-3430-F1EF0A66FFCE}"/>
              </a:ext>
            </a:extLst>
          </p:cNvPr>
          <p:cNvSpPr/>
          <p:nvPr/>
        </p:nvSpPr>
        <p:spPr>
          <a:xfrm flipH="1">
            <a:off x="5437112" y="2807380"/>
            <a:ext cx="45719" cy="1403785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32E57F-D46F-1587-3BF2-A12FAFC841C6}"/>
              </a:ext>
            </a:extLst>
          </p:cNvPr>
          <p:cNvSpPr txBox="1"/>
          <p:nvPr/>
        </p:nvSpPr>
        <p:spPr>
          <a:xfrm>
            <a:off x="5373681" y="2499602"/>
            <a:ext cx="47270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WHY IT MATTERS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1079D0-D697-8B45-8359-B18A2CF0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270858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70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Workflow of the Ivy GAP Project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From surgical resection → laser microdissection → RNA sequencing.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 descr="/home/claude/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3701143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4432663" y="1417320"/>
            <a:ext cx="4254137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FIVE-STEP PIPELINE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432663" y="178308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432663" y="1783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816711" y="1801368"/>
            <a:ext cx="387008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5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Surgical resection — tumor divided into blocks.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432663" y="228600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432663" y="22860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816711" y="2304276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7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Histological sectioning into thin slices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432663" y="278892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432663" y="27889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16711" y="2807208"/>
            <a:ext cx="387008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6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Histopathological evaluation by experts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432663" y="329184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432663" y="32918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816711" y="3310128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5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Annotation of distinct GBM histological regions.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432663" y="379476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432663" y="37947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16711" y="3813048"/>
            <a:ext cx="387008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7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Laser microdissection + RNA-seq per region.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6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6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Ivy Glioblastoma Atlas Project (Ivy GAP)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high-resolution transcriptional atlas — laser microdissection meets RNA-seq.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25780" y="1600200"/>
            <a:ext cx="1920240" cy="15087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25780" y="1600200"/>
            <a:ext cx="1920240" cy="73152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25780" y="187452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122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25780" y="2697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RNA-seq samples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2583180" y="1600200"/>
            <a:ext cx="1920240" cy="15087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2583180" y="1600200"/>
            <a:ext cx="1920240" cy="7315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583180" y="187452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2BA8A8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583180" y="2697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unique tumors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640580" y="1600200"/>
            <a:ext cx="1920240" cy="15087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640580" y="1600200"/>
            <a:ext cx="1920240" cy="7315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640580" y="187452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640580" y="2697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anatomical regions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697980" y="1600200"/>
            <a:ext cx="1920240" cy="15087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697980" y="1600200"/>
            <a:ext cx="1920240" cy="73152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697980" y="187452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4400"/>
              <a:buFont typeface="Georgia"/>
              <a:buNone/>
            </a:pPr>
            <a:r>
              <a:rPr lang="en-US" sz="4400" b="1" i="0" u="none" strike="noStrike" cap="none">
                <a:solidFill>
                  <a:srgbClr val="1E40AF"/>
                </a:solidFill>
                <a:latin typeface="Georgia"/>
                <a:ea typeface="Georgia"/>
                <a:cs typeface="Georgia"/>
                <a:sym typeface="Georgia"/>
              </a:rPr>
              <a:t>~20K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697980" y="26974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genes quantified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3337560"/>
            <a:ext cx="8229600" cy="132588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40080" y="3456432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How does gene expression shift across glioblastoma tumor regions — from the dense core to the invasive edge?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Ivy GAP links clinical, genomic, and anatomic data from 42 tumors to map gene expression across five tumor regions, capturing both intra- and inter-tumor heterogeneity.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5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/>
          <p:nvPr/>
        </p:nvSpPr>
        <p:spPr>
          <a:xfrm>
            <a:off x="457200" y="2240280"/>
            <a:ext cx="548640" cy="54864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57200" y="2377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PCA  ·  Differential Expression (DESeq2)  ·  Co-expression Networks (WGCNA)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457200" y="491947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8"/>
          <p:cNvSpPr/>
          <p:nvPr/>
        </p:nvSpPr>
        <p:spPr>
          <a:xfrm>
            <a:off x="457200" y="495604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0B5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What is RNA Sequencing?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Counting transcripts to measure gene expression genome-wide.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WhatPanel"/>
          <p:cNvSpPr/>
          <p:nvPr/>
        </p:nvSpPr>
        <p:spPr>
          <a:xfrm>
            <a:off x="457200" y="1417320"/>
            <a:ext cx="3701143" cy="141840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</a:ln>
        </p:spPr>
        <p:txBody>
          <a:bodyPr spcFirstLastPara="1" wrap="square" lIns="228600" tIns="228600" rIns="228600" bIns="228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 strike="noStrike" cap="none" spc="100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WHAT IS RNA-SEQ?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 high-throughput method that converts every mRNA molecule in a sample into a sequenceable read — producing a digital count of how active each gene is.</a:t>
            </a:r>
          </a:p>
        </p:txBody>
      </p:sp>
      <p:sp>
        <p:nvSpPr>
          <p:cNvPr id="1541" name="WhyPanel"/>
          <p:cNvSpPr/>
          <p:nvPr/>
        </p:nvSpPr>
        <p:spPr>
          <a:xfrm>
            <a:off x="457200" y="2926080"/>
            <a:ext cx="3701143" cy="15087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</a:ln>
        </p:spPr>
        <p:txBody>
          <a:bodyPr spcFirstLastPara="1" wrap="square" lIns="228600" tIns="228600" rIns="228600" bIns="228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100" b="1" i="0" u="none" strike="noStrike" cap="none" spc="100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WHY USE IT FOR GBM?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Quantifies ~20,000 genes simultaneously across all 122 Ivy GAP samples — the foundation for every comparison we make between tumor regions in DESeq2 and WGCNA.</a:t>
            </a:r>
          </a:p>
        </p:txBody>
      </p:sp>
      <p:sp>
        <p:nvSpPr>
          <p:cNvPr id="155" name="Google Shape;155;p6"/>
          <p:cNvSpPr/>
          <p:nvPr/>
        </p:nvSpPr>
        <p:spPr>
          <a:xfrm>
            <a:off x="4432663" y="1417320"/>
            <a:ext cx="4254137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RNA-SEQ WORKFLOW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432663" y="178308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432663" y="1783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816711" y="1801368"/>
            <a:ext cx="387008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5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Extract mRNA from each microdissected tissue sample.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432663" y="228600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432663" y="22860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816711" y="2304276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7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Reverse-transcribe mRNA into stable cDNA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432663" y="278892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432663" y="27889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16711" y="2807208"/>
            <a:ext cx="387008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6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Sequence cDNA fragments → millions of short reads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432663" y="329184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432663" y="32918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816711" y="3310128"/>
            <a:ext cx="387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5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Map reads back to the human reference genome.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432663" y="3794760"/>
            <a:ext cx="292608" cy="292608"/>
          </a:xfrm>
          <a:prstGeom prst="ellipse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432663" y="37947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16711" y="3813048"/>
            <a:ext cx="387008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7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Count reads per gene → gene expression count matrix.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6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6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RNA-seq Analysis — Two Complementary Lenses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DESeq2 finds individual “star genes.” WGCNA reveals the “gene teams” that drive them.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457200" y="1508760"/>
            <a:ext cx="4023360" cy="7315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85800" y="16916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DESeq2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85800" y="2148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INDIVIDUAL STAR GENES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85800" y="246888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Log₂ Fold Change</a:t>
            </a: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magnitude of expression change between conditions.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Adjusted p-value</a:t>
            </a: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statistical confidence after multiple testing correction.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663440" y="1508760"/>
            <a:ext cx="4023360" cy="7315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892040" y="16916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WGCNA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892040" y="21488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GENE TEAMS — FUNCTIONAL ENGINES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892040" y="246888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Hub genes</a:t>
            </a: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most highly connected genes in a module; act as master regulators of the program.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Module–trait correlation</a:t>
            </a: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links a gene module to a clinical or anatomical trait.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4663440"/>
            <a:ext cx="8229600" cy="164592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457200" y="466344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Combined: from a list of genes  →  the program GBM uses to spread.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7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7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Are samples grouping by biology — or by demographics?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9" descr="/home/claude/image3_cropp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63040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457200" y="425196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By anatomical structure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9" descr="/home/claude/image4_cropp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1463040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4572000" y="425196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By patient age (years)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57200" y="4526280"/>
            <a:ext cx="54864" cy="292608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40080" y="452628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TAKEAWAY  ·  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Biological structure (not patient age) dominates the dataset's variability — clusters track tumor regions, not demographics.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9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9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QUALITY CONTROL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DESEQ2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Gene Expression Changes: Pseudopalisading vs Leading Edge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0" descr="/home/claude/image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5349240" cy="292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BiologicalDiagram" descr="Hypoxic Region and Invasive Edge cellular compositi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1033273"/>
            <a:ext cx="3200400" cy="1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40080" y="452628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FINDING  ·  </a:t>
            </a: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distinct molecular signatures separate the dense core from the invasive edge — distinct biology, distinct therapeutic targets.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0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10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DESEQ2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AB84FC-9BCF-9623-4225-254AFEDAB3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671948"/>
            <a:ext cx="3200400" cy="16714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DESEQ2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Biological Significance of DE Genes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From statistical hits to functional roles — what each gene does in tumor biology.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80060" y="1463040"/>
            <a:ext cx="2606040" cy="14173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480060" y="1463040"/>
            <a:ext cx="54864" cy="14173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6294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ELAVL2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668780" y="162763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TUMOR SUPPRESSOR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62940" y="19202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High levels improve survival by blocking aggressive, therapy-resistant cell states.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268980" y="1463040"/>
            <a:ext cx="2606040" cy="14173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268980" y="1463040"/>
            <a:ext cx="54864" cy="14173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345186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AIF1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457700" y="162763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IMMUNE ACTIVITY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3451860" y="19202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Marks inflammation-driven immune activity in the tumor — may aid growth or immune evasion.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057900" y="1463040"/>
            <a:ext cx="2606040" cy="14173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6057900" y="1463040"/>
            <a:ext cx="54864" cy="141732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624078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RAB3B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7246620" y="162763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ONCOGENE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240780" y="192024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Promotes proliferation and migration via vesicle trafficking; linked to drug resistance.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80060" y="3044952"/>
            <a:ext cx="2606040" cy="14173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80060" y="3044952"/>
            <a:ext cx="54864" cy="141732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662940" y="31363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GABRA5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668780" y="320954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THERAPEUTIC TARGET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62940" y="35021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Inhibition blocks tumor spread — a candidate druggable receptor at the leading edge.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268980" y="3044952"/>
            <a:ext cx="2606040" cy="14173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268980" y="3044952"/>
            <a:ext cx="54864" cy="141732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3451860" y="31363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SCN4A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457700" y="320954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BRAIN INFILTRATION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451860" y="35021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Sodium channel mutations help tumor cells infiltrate brain tissue and worsen survival.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057900" y="3044952"/>
            <a:ext cx="2606040" cy="14173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057900" y="3044952"/>
            <a:ext cx="54864" cy="1417320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6240780" y="31363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MYH2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246620" y="320954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CELL CRAWLING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240780" y="35021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Myosin enables physical crawling and remodeling of the environment to facilitate invasion.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Pseudopalisading (core, hypoxic)     </a:t>
            </a:r>
            <a:r>
              <a:rPr lang="en-US" sz="10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■ </a:t>
            </a:r>
            <a:r>
              <a:rPr lang="en-US" sz="10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Leading Edge (invasive front)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1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5" name="Google Shape;305;p11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DESEQ2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WGCNA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4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WGCNA Identified Modules of Genes with Correlated Expression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Hierarchical clustering by topological overlap reveals co-expression modules.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2" descr="/home/claude/image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50292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2"/>
          <p:cNvSpPr/>
          <p:nvPr/>
        </p:nvSpPr>
        <p:spPr>
          <a:xfrm>
            <a:off x="5669280" y="1417320"/>
            <a:ext cx="301752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5669280" y="1417320"/>
            <a:ext cx="54864" cy="960120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5897880" y="150876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897880" y="17830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Color-coded clusters at the bottom. Turquoise and blue are the largest, most highly co-expressed groups.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5669280" y="2468880"/>
            <a:ext cx="301752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5669280" y="2468880"/>
            <a:ext cx="54864" cy="960120"/>
          </a:xfrm>
          <a:prstGeom prst="rect">
            <a:avLst/>
          </a:prstGeom>
          <a:solidFill>
            <a:srgbClr val="9CA3AF"/>
          </a:solidFill>
          <a:ln w="127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5897880" y="256032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GREY MODULE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897880" y="28346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Genes that don't fit any module — flagged as unassigned or noisy.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669280" y="3520440"/>
            <a:ext cx="3017520" cy="9601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5669280" y="3520440"/>
            <a:ext cx="54864" cy="96012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5897880" y="36118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897880" y="38862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Branches split as height drops (0.90 → 0.60). Lower merges = higher gene-gene similarity.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457200" y="4526280"/>
            <a:ext cx="54864" cy="292608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640080" y="452628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Y-axis: 1 − topological overlap (dissimilarity).  Lower = more similar.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2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6" name="Google Shape;336;p12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WGCNA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NETWORK ANALYSIS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Module–Trait Relationships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Linking gene modules to anatomical regions — where each program is most active.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14" descr="/home/claude/image1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56692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4"/>
          <p:cNvSpPr/>
          <p:nvPr/>
        </p:nvSpPr>
        <p:spPr>
          <a:xfrm>
            <a:off x="6263640" y="141732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KEY CORRELATIONS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6263640" y="1691640"/>
            <a:ext cx="2423160" cy="868680"/>
          </a:xfrm>
          <a:prstGeom prst="rect">
            <a:avLst/>
          </a:prstGeom>
          <a:solidFill>
            <a:srgbClr val="FBE9E7"/>
          </a:solidFill>
          <a:ln w="9525" cap="flat" cmpd="sng">
            <a:solidFill>
              <a:srgbClr val="F5C7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6355080" y="1755648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MEbrown × Microvascular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 = 0.95 (p = 1×10⁻⁶⁰)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Strongest positive — angiogenic hub program.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6263640" y="2651760"/>
            <a:ext cx="2423160" cy="868680"/>
          </a:xfrm>
          <a:prstGeom prst="rect">
            <a:avLst/>
          </a:prstGeom>
          <a:solidFill>
            <a:srgbClr val="E0F2F1"/>
          </a:solidFill>
          <a:ln w="9525" cap="flat" cmpd="sng">
            <a:solidFill>
              <a:srgbClr val="B2DF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6355080" y="2715768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MEturquoise × Leading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r = 0.76 (p = 3×10⁻²⁴)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Strong link to invasive edge biology.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6263640" y="3611880"/>
            <a:ext cx="2423160" cy="868680"/>
          </a:xfrm>
          <a:prstGeom prst="rect">
            <a:avLst/>
          </a:prstGeom>
          <a:solidFill>
            <a:srgbClr val="ECEFF1"/>
          </a:solidFill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6355080" y="3675888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MEblack × Pseudopalisading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 = 0.91 (p = 1×10⁻⁴⁸)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Hypoxic-core gene program.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4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14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NETWORK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3742950" y="1709475"/>
            <a:ext cx="970800" cy="25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"/>
          <p:cNvSpPr txBox="1"/>
          <p:nvPr/>
        </p:nvSpPr>
        <p:spPr>
          <a:xfrm>
            <a:off x="3742950" y="1722075"/>
            <a:ext cx="970800" cy="23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HUB GENES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Hub Genes &amp; Microvascular Subtype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Module Membership (kME) vs Gene Significance — identifying master regulators.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943600" y="1417325"/>
            <a:ext cx="2743200" cy="261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5943601" y="1417334"/>
            <a:ext cx="54900" cy="2611800"/>
          </a:xfrm>
          <a:prstGeom prst="rect">
            <a:avLst/>
          </a:prstGeom>
          <a:solidFill>
            <a:srgbClr val="8B4513"/>
          </a:solidFill>
          <a:ln w="12700" cap="flat" cmpd="sng">
            <a:solidFill>
              <a:srgbClr val="8B45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6172200" y="1508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24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BROWN MODULE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172200" y="1783060"/>
            <a:ext cx="2377500" cy="19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21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Strong POSITIVE correlation — hub genes are key drivers of the microvascular program.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Hub genes (kME &gt; 0.9) are master regulators — their expression coordinates entire functional programs.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p15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" name="Google Shape;382;p15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HUB GENES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7788"/>
            <a:ext cx="5468925" cy="32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1E40AF"/>
          </a:solidFill>
          <a:ln w="12700" cap="flat" cmpd="sng">
            <a:solidFill>
              <a:srgbClr val="1E4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FINDING #1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Brown Module — The Angiogenic Engine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560 co-expressed genes that together drive the tumor's blood supply.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PathwayPanel"/>
          <p:cNvSpPr/>
          <p:nvPr/>
        </p:nvSpPr>
        <p:spPr>
          <a:xfrm>
            <a:off x="411480" y="1417320"/>
            <a:ext cx="4754880" cy="301752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</a:ln>
        </p:spPr>
        <p:txBody>
          <a:bodyPr spcFirstLastPara="1" wrap="square" lIns="274320" tIns="228600" rIns="274320" bIns="228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i="0" u="none" strike="noStrike" cap="none" spc="100">
                <a:solidFill>
                  <a:srgbClr val="8B5A2B"/>
                </a:solidFill>
                <a:latin typeface="Calibri"/>
                <a:ea typeface="Calibri"/>
                <a:cs typeface="Calibri"/>
                <a:sym typeface="Calibri"/>
              </a:rPr>
              <a:t>ENRICHED GO BIOLOGICAL PATHWAYS</a:t>
            </a:r>
          </a:p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Top biological themes driven by the Brown module — all converging on tumor vasculature.</a:t>
            </a:r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Sprouting angiogenesis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Endothelial cell migration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Vasculogenesis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Blood vessel morphogenesis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Vascular process in circulatory system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Substrate adhesion</a:t>
            </a:r>
          </a:p>
        </p:txBody>
      </p:sp>
      <p:sp>
        <p:nvSpPr>
          <p:cNvPr id="398" name="Google Shape;398;p16"/>
          <p:cNvSpPr/>
          <p:nvPr/>
        </p:nvSpPr>
        <p:spPr>
          <a:xfrm>
            <a:off x="411480" y="4434840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GO biological pathways enriched in the Brown module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5349240" y="1417320"/>
            <a:ext cx="33375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MASTER REGULATORS  ·  kME &gt; 0.93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349240" y="1691640"/>
            <a:ext cx="3337560" cy="713232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5349240" y="1691640"/>
            <a:ext cx="77724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5349240" y="1691640"/>
            <a:ext cx="777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KDR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217920" y="1737360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VEGFR2 — on-switch for tumor blood-vessel growth; targeted by Bevacizumab (Avastin).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5349240" y="2450592"/>
            <a:ext cx="3337560" cy="713232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5349240" y="2450592"/>
            <a:ext cx="77724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5349240" y="2450592"/>
            <a:ext cx="777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FLT4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217920" y="2496312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VEGFR3 — regulates lymphatic and vascular remodeling in aggressive tumors.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5349240" y="3209544"/>
            <a:ext cx="3337560" cy="713232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5349240" y="3209544"/>
            <a:ext cx="77724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5349240" y="3209544"/>
            <a:ext cx="777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EFNB2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217920" y="3255264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Regulates endothelial cell migration and vessel patterning.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349240" y="3968496"/>
            <a:ext cx="3337560" cy="713232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5349240" y="3968496"/>
            <a:ext cx="777240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5349240" y="3968496"/>
            <a:ext cx="777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400"/>
              <a:buFont typeface="Georgia"/>
              <a:buNone/>
            </a:pPr>
            <a:r>
              <a:rPr lang="en-US" sz="14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FOXC1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6217920" y="4014216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Transcription factor — promotes tumor cell plasticity and vascular invasion.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6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7" name="Google Shape;417;p16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FINDING #1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"/>
          <p:cNvSpPr/>
          <p:nvPr/>
        </p:nvSpPr>
        <p:spPr>
          <a:xfrm>
            <a:off x="457200" y="2240280"/>
            <a:ext cx="548640" cy="54864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457200" y="23774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From statistical hits to the molecular program GBM uses to spread.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19"/>
          <p:cNvCxnSpPr/>
          <p:nvPr/>
        </p:nvCxnSpPr>
        <p:spPr>
          <a:xfrm>
            <a:off x="457200" y="491947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6" name="Google Shape;506;p19"/>
          <p:cNvSpPr/>
          <p:nvPr/>
        </p:nvSpPr>
        <p:spPr>
          <a:xfrm>
            <a:off x="457200" y="495604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0B5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"/>
          <p:cNvSpPr/>
          <p:nvPr/>
        </p:nvSpPr>
        <p:spPr>
          <a:xfrm>
            <a:off x="457200" y="292608"/>
            <a:ext cx="164592" cy="164592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676656" y="246888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1078992" y="246888"/>
            <a:ext cx="137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207008" y="2468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Key Findings — One-Sentence Conclusions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 identified the molecular switches and engines GBM uses to migrate from core to healthy tissue.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457200" y="1508760"/>
            <a:ext cx="8229600" cy="100584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457200" y="1508760"/>
            <a:ext cx="54864" cy="1005840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640080" y="160020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417320" y="162763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QUALITY CONTROL — PCA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1417320" y="1920240"/>
            <a:ext cx="7040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Biological structure (not patient age) drives sample variability. Anatomical regions cluster cleanly, justifying region-based comparisons.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457200" y="2606040"/>
            <a:ext cx="54864" cy="1005840"/>
          </a:xfrm>
          <a:prstGeom prst="rect">
            <a:avLst/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0"/>
          <p:cNvSpPr/>
          <p:nvPr/>
        </p:nvSpPr>
        <p:spPr>
          <a:xfrm>
            <a:off x="640080" y="269748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C0392B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1417320" y="272491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DESEQ2 — DIFFERENTIAL EXPRESSION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1417320" y="3017520"/>
            <a:ext cx="7040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Distinct gene signatures separate Pseudopalisading (RAB3B, AIF1, ELAVL2) from Leading Edge (GABRA6, SCN4A, MYH2) — distinct biology, distinct druggable targets.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F5F7FA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57200" y="3703320"/>
            <a:ext cx="54864" cy="1005840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640080" y="3794760"/>
            <a:ext cx="640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2BA8A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1417320" y="382219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WGCNA — TWO FUNCTIONAL ENGINES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1417320" y="4114800"/>
            <a:ext cx="7040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Brown module = angiogenic engine (KDR/VEGFR2, FLT4 — vascular machinery). Turquoise module = infiltration engine (CHKA, SYP — brain mimicry via neurotransmitter pathways) — coordinated programs, not isolated genes.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solidFill>
            <a:srgbClr val="0A2540"/>
          </a:solidFill>
          <a:ln w="12700" cap="flat" cmpd="sng">
            <a:solidFill>
              <a:srgbClr val="0A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DESeq2 + WGCNA together reveal not just which genes change — but the programs they belong to.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20"/>
          <p:cNvCxnSpPr/>
          <p:nvPr/>
        </p:nvCxnSpPr>
        <p:spPr>
          <a:xfrm>
            <a:off x="457200" y="4846320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p20"/>
          <p:cNvSpPr/>
          <p:nvPr/>
        </p:nvSpPr>
        <p:spPr>
          <a:xfrm>
            <a:off x="457200" y="48920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GBM Microstructure DGE  ·  Ivy GAP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5486400" y="48920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8321040" y="489204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1"/>
          <p:cNvSpPr/>
          <p:nvPr/>
        </p:nvSpPr>
        <p:spPr>
          <a:xfrm>
            <a:off x="457200" y="1188720"/>
            <a:ext cx="548640" cy="54864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END OF DECK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Questions welcome.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457200" y="3246120"/>
            <a:ext cx="8229600" cy="1188720"/>
          </a:xfrm>
          <a:prstGeom prst="rect">
            <a:avLst/>
          </a:prstGeom>
          <a:solidFill>
            <a:srgbClr val="0F2D4C"/>
          </a:solidFill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457200" y="3246120"/>
            <a:ext cx="54864" cy="1188720"/>
          </a:xfrm>
          <a:prstGeom prst="rect">
            <a:avLst/>
          </a:prstGeom>
          <a:solidFill>
            <a:srgbClr val="2BA8A8"/>
          </a:solidFill>
          <a:ln w="12700" cap="flat" cmpd="sng">
            <a:solidFill>
              <a:srgbClr val="2BA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640080" y="3337560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A8A8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BA8A8"/>
                </a:solidFill>
                <a:latin typeface="Calibri"/>
                <a:ea typeface="Calibri"/>
                <a:cs typeface="Calibri"/>
                <a:sym typeface="Calibri"/>
              </a:rPr>
              <a:t>WITH GRATITUDE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640080" y="3584448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 thanks to Professor Nihal Salem for the guidance, mentorship, and scientific direction that shaped both the analysis and the biological interpretation of these results.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B8C5D6"/>
                </a:solidFill>
                <a:latin typeface="Calibri"/>
                <a:ea typeface="Calibri"/>
                <a:cs typeface="Calibri"/>
                <a:sym typeface="Calibri"/>
              </a:rPr>
              <a:t>— Nada Ibnouf &amp; Maziar Abedzadeh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21"/>
          <p:cNvCxnSpPr/>
          <p:nvPr/>
        </p:nvCxnSpPr>
        <p:spPr>
          <a:xfrm>
            <a:off x="457200" y="4919472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1A3A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4" name="Google Shape;554;p21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0B5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FA0B5"/>
                </a:solidFill>
                <a:latin typeface="Calibri"/>
                <a:ea typeface="Calibri"/>
                <a:cs typeface="Calibri"/>
                <a:sym typeface="Calibri"/>
              </a:rPr>
              <a:t>Differential Gene Expression Analysis of Glioblastoma Microstructures  ·  Ivy GAP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1632</Words>
  <Application>Microsoft Office PowerPoint</Application>
  <PresentationFormat>On-screen Show (16:9)</PresentationFormat>
  <Paragraphs>312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Maziar Abedzadeh &amp; Nada Ibnouf</dc:creator>
  <cp:lastModifiedBy>nada ibnouf</cp:lastModifiedBy>
  <cp:revision>4</cp:revision>
  <dcterms:created xsi:type="dcterms:W3CDTF">2026-05-01T21:20:37Z</dcterms:created>
  <dcterms:modified xsi:type="dcterms:W3CDTF">2026-05-06T18:18:26Z</dcterms:modified>
</cp:coreProperties>
</file>